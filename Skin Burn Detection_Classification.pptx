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359568"/>
            <a:ext cx="9144000" cy="442436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0" y="3355181"/>
            <a:ext cx="9144000" cy="952500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540" y="3355181"/>
            <a:ext cx="2119313" cy="3810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344" y="3926681"/>
            <a:ext cx="1709737" cy="3810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693" y="3926681"/>
            <a:ext cx="286467" cy="130017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109" y="3970899"/>
            <a:ext cx="235911" cy="318588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9019" y="4206160"/>
            <a:ext cx="174712" cy="82775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9332" y="4034698"/>
            <a:ext cx="227973" cy="228248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1806" y="3979688"/>
            <a:ext cx="1004020" cy="327993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8511" y="4002337"/>
            <a:ext cx="203884" cy="231889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7138" y="4007199"/>
            <a:ext cx="28454" cy="222060"/>
          </a:xfrm>
          <a:prstGeom prst="rect">
            <a:avLst/>
          </a:prstGeom>
        </p:spPr>
      </p:pic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0023" y="4072487"/>
            <a:ext cx="156229" cy="161746"/>
          </a:xfrm>
          <a:prstGeom prst="rect">
            <a:avLst/>
          </a:prstGeom>
        </p:spPr>
      </p:pic>
      <p:pic>
        <p:nvPicPr>
          <p:cNvPr id="15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9339" y="4077460"/>
            <a:ext cx="134544" cy="157423"/>
          </a:xfrm>
          <a:prstGeom prst="rect">
            <a:avLst/>
          </a:prstGeom>
        </p:spPr>
      </p:pic>
      <p:pic>
        <p:nvPicPr>
          <p:cNvPr id="16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28320" y="4007199"/>
            <a:ext cx="152337" cy="227014"/>
          </a:xfrm>
          <a:prstGeom prst="rect">
            <a:avLst/>
          </a:prstGeom>
        </p:spPr>
      </p:pic>
      <p:pic>
        <p:nvPicPr>
          <p:cNvPr id="17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3103" y="3632089"/>
            <a:ext cx="81343" cy="102682"/>
          </a:xfrm>
          <a:prstGeom prst="rect">
            <a:avLst/>
          </a:prstGeom>
        </p:spPr>
      </p:pic>
      <p:pic>
        <p:nvPicPr>
          <p:cNvPr id="18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39173" y="3657095"/>
            <a:ext cx="67003" cy="79085"/>
          </a:xfrm>
          <a:prstGeom prst="rect">
            <a:avLst/>
          </a:prstGeom>
        </p:spPr>
      </p:pic>
      <p:pic>
        <p:nvPicPr>
          <p:cNvPr id="19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9246" y="3657043"/>
            <a:ext cx="63029" cy="77729"/>
          </a:xfrm>
          <a:prstGeom prst="rect">
            <a:avLst/>
          </a:prstGeom>
        </p:spPr>
      </p:pic>
      <p:pic>
        <p:nvPicPr>
          <p:cNvPr id="20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91556" y="3657055"/>
            <a:ext cx="63068" cy="79098"/>
          </a:xfrm>
          <a:prstGeom prst="rect">
            <a:avLst/>
          </a:prstGeom>
        </p:spPr>
      </p:pic>
      <p:pic>
        <p:nvPicPr>
          <p:cNvPr id="21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63449" y="3657049"/>
            <a:ext cx="70853" cy="79132"/>
          </a:xfrm>
          <a:prstGeom prst="rect">
            <a:avLst/>
          </a:prstGeom>
        </p:spPr>
      </p:pic>
      <p:pic>
        <p:nvPicPr>
          <p:cNvPr id="22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45855" y="3657048"/>
            <a:ext cx="39992" cy="77779"/>
          </a:xfrm>
          <a:prstGeom prst="rect">
            <a:avLst/>
          </a:prstGeom>
        </p:spPr>
      </p:pic>
      <p:pic>
        <p:nvPicPr>
          <p:cNvPr id="23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98217" y="3632089"/>
            <a:ext cx="65143" cy="102682"/>
          </a:xfrm>
          <a:prstGeom prst="rect">
            <a:avLst/>
          </a:prstGeom>
        </p:spPr>
      </p:pic>
      <p:pic>
        <p:nvPicPr>
          <p:cNvPr id="24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74027" y="3631897"/>
            <a:ext cx="17120" cy="102875"/>
          </a:xfrm>
          <a:prstGeom prst="rect">
            <a:avLst/>
          </a:prstGeom>
        </p:spPr>
      </p:pic>
      <p:pic>
        <p:nvPicPr>
          <p:cNvPr id="25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03677" y="3657049"/>
            <a:ext cx="70801" cy="79133"/>
          </a:xfrm>
          <a:prstGeom prst="rect">
            <a:avLst/>
          </a:prstGeom>
        </p:spPr>
      </p:pic>
      <p:pic>
        <p:nvPicPr>
          <p:cNvPr id="26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78448" y="3658458"/>
            <a:ext cx="102115" cy="76314"/>
          </a:xfrm>
          <a:prstGeom prst="rect">
            <a:avLst/>
          </a:prstGeom>
        </p:spPr>
      </p:pic>
      <p:pic>
        <p:nvPicPr>
          <p:cNvPr id="27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23022" y="3354425"/>
            <a:ext cx="88716" cy="207757"/>
          </a:xfrm>
          <a:prstGeom prst="rect">
            <a:avLst/>
          </a:prstGeom>
        </p:spPr>
      </p:pic>
      <p:pic>
        <p:nvPicPr>
          <p:cNvPr id="28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32550" y="3355181"/>
            <a:ext cx="88716" cy="207757"/>
          </a:xfrm>
          <a:prstGeom prst="rect">
            <a:avLst/>
          </a:prstGeom>
        </p:spPr>
      </p:pic>
      <p:pic>
        <p:nvPicPr>
          <p:cNvPr id="29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24492" y="3354425"/>
            <a:ext cx="88716" cy="207757"/>
          </a:xfrm>
          <a:prstGeom prst="rect">
            <a:avLst/>
          </a:prstGeom>
        </p:spPr>
      </p:pic>
      <p:pic>
        <p:nvPicPr>
          <p:cNvPr id="30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29229" y="3355181"/>
            <a:ext cx="88716" cy="207757"/>
          </a:xfrm>
          <a:prstGeom prst="rect">
            <a:avLst/>
          </a:prstGeom>
        </p:spPr>
      </p:pic>
      <p:pic>
        <p:nvPicPr>
          <p:cNvPr id="31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981810" y="3438803"/>
            <a:ext cx="128429" cy="228634"/>
          </a:xfrm>
          <a:prstGeom prst="rect">
            <a:avLst/>
          </a:prstGeom>
        </p:spPr>
      </p:pic>
      <p:pic>
        <p:nvPicPr>
          <p:cNvPr id="32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137027" y="3438803"/>
            <a:ext cx="124054" cy="227960"/>
          </a:xfrm>
          <a:prstGeom prst="rect">
            <a:avLst/>
          </a:prstGeom>
        </p:spPr>
      </p:pic>
      <p:pic>
        <p:nvPicPr>
          <p:cNvPr id="33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288139" y="3392614"/>
            <a:ext cx="69291" cy="199960"/>
          </a:xfrm>
          <a:prstGeom prst="rect">
            <a:avLst/>
          </a:prstGeom>
        </p:spPr>
      </p:pic>
      <p:pic>
        <p:nvPicPr>
          <p:cNvPr id="34" name="Image 29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386540" y="3355181"/>
            <a:ext cx="120328" cy="235021"/>
          </a:xfrm>
          <a:prstGeom prst="rect">
            <a:avLst/>
          </a:prstGeom>
        </p:spPr>
      </p:pic>
      <p:pic>
        <p:nvPicPr>
          <p:cNvPr id="35" name="Image 30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529551" y="3438803"/>
            <a:ext cx="135531" cy="154444"/>
          </a:xfrm>
          <a:prstGeom prst="rect">
            <a:avLst/>
          </a:prstGeom>
        </p:spPr>
      </p:pic>
      <p:pic>
        <p:nvPicPr>
          <p:cNvPr id="36" name="Image 31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687252" y="3438803"/>
            <a:ext cx="119329" cy="151398"/>
          </a:xfrm>
          <a:prstGeom prst="rect">
            <a:avLst/>
          </a:prstGeom>
        </p:spPr>
      </p:pic>
      <p:pic>
        <p:nvPicPr>
          <p:cNvPr id="37" name="Image 32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585891" y="3363850"/>
            <a:ext cx="227989" cy="229741"/>
          </a:xfrm>
          <a:prstGeom prst="rect">
            <a:avLst/>
          </a:prstGeom>
        </p:spPr>
      </p:pic>
      <p:pic>
        <p:nvPicPr>
          <p:cNvPr id="38" name="Image 33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665402" y="3443082"/>
            <a:ext cx="228453" cy="231502"/>
          </a:xfrm>
          <a:prstGeom prst="rect">
            <a:avLst/>
          </a:prstGeom>
        </p:spPr>
      </p:pic>
      <p:pic>
        <p:nvPicPr>
          <p:cNvPr id="39" name="Image 34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844392" y="3390249"/>
            <a:ext cx="56898" cy="30313"/>
          </a:xfrm>
          <a:prstGeom prst="rect">
            <a:avLst/>
          </a:prstGeom>
        </p:spPr>
      </p:pic>
      <p:pic>
        <p:nvPicPr>
          <p:cNvPr id="40" name="Image 35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640983" y="3697655"/>
            <a:ext cx="199088" cy="38527"/>
          </a:xfrm>
          <a:prstGeom prst="rect">
            <a:avLst/>
          </a:prstGeom>
        </p:spPr>
      </p:pic>
      <p:pic>
        <p:nvPicPr>
          <p:cNvPr id="41" name="Image 36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463436" y="3411077"/>
            <a:ext cx="119686" cy="268970"/>
          </a:xfrm>
          <a:prstGeom prst="rect">
            <a:avLst/>
          </a:prstGeom>
        </p:spPr>
      </p:pic>
      <p:pic>
        <p:nvPicPr>
          <p:cNvPr id="42" name="Image 37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518700" y="3355427"/>
            <a:ext cx="249499" cy="120488"/>
          </a:xfrm>
          <a:prstGeom prst="rect">
            <a:avLst/>
          </a:prstGeom>
        </p:spPr>
      </p:pic>
      <p:pic>
        <p:nvPicPr>
          <p:cNvPr id="43" name="Image 38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518700" y="3615483"/>
            <a:ext cx="249772" cy="120021"/>
          </a:xfrm>
          <a:prstGeom prst="rect">
            <a:avLst/>
          </a:prstGeom>
        </p:spPr>
      </p:pic>
      <p:pic>
        <p:nvPicPr>
          <p:cNvPr id="44" name="Image 39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731225" y="3355181"/>
            <a:ext cx="323052" cy="324866"/>
          </a:xfrm>
          <a:prstGeom prst="rect">
            <a:avLst/>
          </a:prstGeom>
        </p:spPr>
      </p:pic>
      <p:pic>
        <p:nvPicPr>
          <p:cNvPr id="45" name="Image 40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786488" y="3411077"/>
            <a:ext cx="323153" cy="325104"/>
          </a:xfrm>
          <a:prstGeom prst="rect">
            <a:avLst/>
          </a:prstGeom>
        </p:spPr>
      </p:pic>
      <p:sp>
        <p:nvSpPr>
          <p:cNvPr id="46" name="Text 3"/>
          <p:cNvSpPr/>
          <p:nvPr/>
        </p:nvSpPr>
        <p:spPr>
          <a:xfrm>
            <a:off x="76200" y="835818"/>
            <a:ext cx="9448800" cy="2043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378"/>
              </a:lnSpc>
              <a:buNone/>
            </a:pPr>
            <a:r>
              <a:rPr lang="en-US" sz="3949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Skin Burn Detection</a:t>
            </a:r>
            <a:endParaRPr lang="en-US" sz="3949" dirty="0"/>
          </a:p>
          <a:p>
            <a:pPr algn="ctr" indent="0" marL="0">
              <a:lnSpc>
                <a:spcPts val="5378"/>
              </a:lnSpc>
              <a:buNone/>
            </a:pPr>
            <a:r>
              <a:rPr lang="en-US" sz="3949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&amp;</a:t>
            </a:r>
            <a:endParaRPr lang="en-US" sz="3949" dirty="0"/>
          </a:p>
          <a:p>
            <a:pPr algn="ctr" indent="0" marL="0">
              <a:lnSpc>
                <a:spcPts val="5378"/>
              </a:lnSpc>
              <a:buNone/>
            </a:pPr>
            <a:r>
              <a:rPr lang="en-US" sz="3949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Classification</a:t>
            </a:r>
            <a:endParaRPr lang="en-US" sz="394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715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0" y="871538"/>
            <a:ext cx="9144000" cy="4138613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0" y="871538"/>
            <a:ext cx="9144000" cy="1933575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73844" y="2900363"/>
            <a:ext cx="8596313" cy="2109788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73844" y="3248025"/>
            <a:ext cx="8596313" cy="1762125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273844" y="3248025"/>
            <a:ext cx="1781175" cy="1762125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1959769" y="3248025"/>
            <a:ext cx="1781175" cy="1604963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3645694" y="3248025"/>
            <a:ext cx="1781175" cy="1762125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5331619" y="3248025"/>
            <a:ext cx="1781175" cy="1762125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7017544" y="3248025"/>
            <a:ext cx="1852612" cy="144780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7229475" y="3457575"/>
            <a:ext cx="1428750" cy="123825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5507831" y="3457575"/>
            <a:ext cx="1428750" cy="1552575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3821906" y="3457575"/>
            <a:ext cx="1428750" cy="1552575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2135981" y="3457575"/>
            <a:ext cx="1428750" cy="1395413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450056" y="3457575"/>
            <a:ext cx="1428750" cy="1552575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0" y="1219200"/>
            <a:ext cx="9144000" cy="1585913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219075" y="1219200"/>
            <a:ext cx="1428750" cy="1628775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2038350" y="1219200"/>
            <a:ext cx="1428750" cy="1457325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3857625" y="1219200"/>
            <a:ext cx="1428750" cy="1628775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5676900" y="1219200"/>
            <a:ext cx="1428750" cy="1457325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7496175" y="1219200"/>
            <a:ext cx="1428750" cy="1628775"/>
          </a:xfrm>
          <a:prstGeom prst="rect">
            <a:avLst/>
          </a:prstGeom>
          <a:noFill/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544" y="3248025"/>
            <a:ext cx="1852612" cy="114300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619" y="3248025"/>
            <a:ext cx="1781175" cy="114300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5694" y="3248025"/>
            <a:ext cx="1781175" cy="114300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9769" y="3248025"/>
            <a:ext cx="1781175" cy="114300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844" y="3248025"/>
            <a:ext cx="1781175" cy="114300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7825" y="1219200"/>
            <a:ext cx="409575" cy="1585913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7100" y="1219200"/>
            <a:ext cx="409575" cy="1585913"/>
          </a:xfrm>
          <a:prstGeom prst="rect">
            <a:avLst/>
          </a:prstGeom>
        </p:spPr>
      </p:pic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6375" y="1219200"/>
            <a:ext cx="409575" cy="1585913"/>
          </a:xfrm>
          <a:prstGeom prst="rect">
            <a:avLst/>
          </a:prstGeom>
        </p:spPr>
      </p:pic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5650" y="1219200"/>
            <a:ext cx="409575" cy="1585913"/>
          </a:xfrm>
          <a:prstGeom prst="rect">
            <a:avLst/>
          </a:prstGeom>
        </p:spPr>
      </p:pic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4800" y="1690688"/>
            <a:ext cx="571500" cy="571500"/>
          </a:xfrm>
          <a:prstGeom prst="rect">
            <a:avLst/>
          </a:prstGeom>
        </p:spPr>
      </p:pic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5525" y="1690688"/>
            <a:ext cx="571500" cy="571500"/>
          </a:xfrm>
          <a:prstGeom prst="rect">
            <a:avLst/>
          </a:prstGeom>
        </p:spPr>
      </p:pic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86250" y="1690688"/>
            <a:ext cx="571500" cy="571500"/>
          </a:xfrm>
          <a:prstGeom prst="rect">
            <a:avLst/>
          </a:prstGeom>
        </p:spPr>
      </p:pic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90775" y="1690688"/>
            <a:ext cx="723900" cy="571500"/>
          </a:xfrm>
          <a:prstGeom prst="rect">
            <a:avLst/>
          </a:prstGeom>
        </p:spPr>
      </p:pic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0081" y="1690688"/>
            <a:ext cx="566738" cy="571500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3850481" y="2900363"/>
            <a:ext cx="1900238" cy="252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88"/>
              </a:lnSpc>
              <a:buNone/>
            </a:pPr>
            <a:r>
              <a:rPr lang="en-US" sz="1350" b="1" dirty="0">
                <a:solidFill>
                  <a:srgbClr val="760028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WORKFLOW</a:t>
            </a:r>
            <a:endParaRPr lang="en-US" sz="1350" dirty="0"/>
          </a:p>
        </p:txBody>
      </p:sp>
      <p:sp>
        <p:nvSpPr>
          <p:cNvPr id="39" name="Text 23"/>
          <p:cNvSpPr/>
          <p:nvPr/>
        </p:nvSpPr>
        <p:spPr>
          <a:xfrm>
            <a:off x="7229475" y="3457575"/>
            <a:ext cx="188595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000000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Testing</a:t>
            </a:r>
            <a:endParaRPr lang="en-US" sz="1050" dirty="0"/>
          </a:p>
        </p:txBody>
      </p:sp>
      <p:sp>
        <p:nvSpPr>
          <p:cNvPr id="40" name="Text 24"/>
          <p:cNvSpPr/>
          <p:nvPr/>
        </p:nvSpPr>
        <p:spPr>
          <a:xfrm>
            <a:off x="7229475" y="3752850"/>
            <a:ext cx="1885950" cy="942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i="1" spc="17" kern="0" dirty="0">
                <a:solidFill>
                  <a:srgbClr val="55555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Deployed in a real-world setting at a local hospital.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i="1" spc="17" kern="0" dirty="0">
                <a:solidFill>
                  <a:srgbClr val="55555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Improved thresholds based on practitioner feedbacks.</a:t>
            </a:r>
            <a:endParaRPr lang="en-US" sz="825" dirty="0"/>
          </a:p>
        </p:txBody>
      </p:sp>
      <p:sp>
        <p:nvSpPr>
          <p:cNvPr id="41" name="Text 25"/>
          <p:cNvSpPr/>
          <p:nvPr/>
        </p:nvSpPr>
        <p:spPr>
          <a:xfrm>
            <a:off x="5507831" y="3457575"/>
            <a:ext cx="188595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000000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42" name="Text 26"/>
          <p:cNvSpPr/>
          <p:nvPr/>
        </p:nvSpPr>
        <p:spPr>
          <a:xfrm>
            <a:off x="5507831" y="3752850"/>
            <a:ext cx="1885950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i="1" spc="17" kern="0" dirty="0">
                <a:solidFill>
                  <a:srgbClr val="55555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Evaluated using metrics such as mAP@0.5 and confusion matrix.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i="1" spc="17" kern="0" dirty="0">
                <a:solidFill>
                  <a:srgbClr val="55555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Conducted ablation studies to balance precision, recall, and model size.</a:t>
            </a:r>
            <a:endParaRPr lang="en-US" sz="825" dirty="0"/>
          </a:p>
        </p:txBody>
      </p:sp>
      <p:sp>
        <p:nvSpPr>
          <p:cNvPr id="43" name="Text 27"/>
          <p:cNvSpPr/>
          <p:nvPr/>
        </p:nvSpPr>
        <p:spPr>
          <a:xfrm>
            <a:off x="3821906" y="3457575"/>
            <a:ext cx="188595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000000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Training</a:t>
            </a:r>
            <a:endParaRPr lang="en-US" sz="1050" dirty="0"/>
          </a:p>
        </p:txBody>
      </p:sp>
      <p:sp>
        <p:nvSpPr>
          <p:cNvPr id="44" name="Text 28"/>
          <p:cNvSpPr/>
          <p:nvPr/>
        </p:nvSpPr>
        <p:spPr>
          <a:xfrm>
            <a:off x="3821906" y="3752850"/>
            <a:ext cx="1885950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i="1" spc="17" kern="0" dirty="0">
                <a:solidFill>
                  <a:srgbClr val="55555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Fine-tuned YOLOv5 using transfer learning on our custom burn dataset.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i="1" spc="17" kern="0" dirty="0">
                <a:solidFill>
                  <a:srgbClr val="55555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Implemented early stopping and learning rate scheduling for optimal performance.</a:t>
            </a:r>
            <a:endParaRPr lang="en-US" sz="825" dirty="0"/>
          </a:p>
        </p:txBody>
      </p:sp>
      <p:sp>
        <p:nvSpPr>
          <p:cNvPr id="45" name="Text 29"/>
          <p:cNvSpPr/>
          <p:nvPr/>
        </p:nvSpPr>
        <p:spPr>
          <a:xfrm>
            <a:off x="2135981" y="3457575"/>
            <a:ext cx="188595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000000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Preprocess</a:t>
            </a:r>
            <a:endParaRPr lang="en-US" sz="1050" dirty="0"/>
          </a:p>
        </p:txBody>
      </p:sp>
      <p:sp>
        <p:nvSpPr>
          <p:cNvPr id="46" name="Text 30"/>
          <p:cNvSpPr/>
          <p:nvPr/>
        </p:nvSpPr>
        <p:spPr>
          <a:xfrm>
            <a:off x="2135981" y="3752850"/>
            <a:ext cx="1885950" cy="11001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i="1" spc="17" kern="0" dirty="0">
                <a:solidFill>
                  <a:srgbClr val="55555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Applied resizing and augmentation techniques to improve model generalization.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i="1" spc="17" kern="0" dirty="0">
                <a:solidFill>
                  <a:srgbClr val="55555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Reformatted labels to YOLOv5 annotation schema.</a:t>
            </a:r>
            <a:endParaRPr lang="en-US" sz="825" dirty="0"/>
          </a:p>
        </p:txBody>
      </p:sp>
      <p:sp>
        <p:nvSpPr>
          <p:cNvPr id="47" name="Text 31"/>
          <p:cNvSpPr/>
          <p:nvPr/>
        </p:nvSpPr>
        <p:spPr>
          <a:xfrm>
            <a:off x="450056" y="3457575"/>
            <a:ext cx="188595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000000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Collection</a:t>
            </a:r>
            <a:endParaRPr lang="en-US" sz="1050" dirty="0"/>
          </a:p>
        </p:txBody>
      </p:sp>
      <p:sp>
        <p:nvSpPr>
          <p:cNvPr id="48" name="Text 32"/>
          <p:cNvSpPr/>
          <p:nvPr/>
        </p:nvSpPr>
        <p:spPr>
          <a:xfrm>
            <a:off x="450056" y="3752850"/>
            <a:ext cx="1885950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i="1" spc="17" kern="0" dirty="0">
                <a:solidFill>
                  <a:srgbClr val="55555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Partnered with certified medical practitioners to collect diverse burn cases.</a:t>
            </a:r>
            <a:endParaRPr lang="en-US" sz="825" dirty="0"/>
          </a:p>
          <a:p>
            <a:pPr algn="l" marL="342900" indent="-342900">
              <a:lnSpc>
                <a:spcPts val="1238"/>
              </a:lnSpc>
              <a:buSzPct val="100000"/>
              <a:buChar char="•"/>
            </a:pPr>
            <a:r>
              <a:rPr lang="en-US" sz="825" i="1" spc="17" kern="0" dirty="0">
                <a:solidFill>
                  <a:srgbClr val="55555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Curated a clinically validated, annotated dataset covering burn classes 1, 2, 3, and NA.</a:t>
            </a:r>
            <a:endParaRPr lang="en-US" sz="825" dirty="0"/>
          </a:p>
        </p:txBody>
      </p:sp>
      <p:sp>
        <p:nvSpPr>
          <p:cNvPr id="49" name="Text 33"/>
          <p:cNvSpPr/>
          <p:nvPr/>
        </p:nvSpPr>
        <p:spPr>
          <a:xfrm>
            <a:off x="3552825" y="871538"/>
            <a:ext cx="2495550" cy="252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88"/>
              </a:lnSpc>
              <a:buNone/>
            </a:pPr>
            <a:r>
              <a:rPr lang="en-US" sz="1350" b="1" dirty="0">
                <a:solidFill>
                  <a:srgbClr val="760028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WORKING PROCESS</a:t>
            </a:r>
            <a:endParaRPr lang="en-US" sz="1350" dirty="0"/>
          </a:p>
        </p:txBody>
      </p:sp>
      <p:sp>
        <p:nvSpPr>
          <p:cNvPr id="50" name="Text 34"/>
          <p:cNvSpPr/>
          <p:nvPr/>
        </p:nvSpPr>
        <p:spPr>
          <a:xfrm>
            <a:off x="7662863" y="1219200"/>
            <a:ext cx="1552575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spc="21" kern="0" dirty="0">
                <a:solidFill>
                  <a:srgbClr val="000000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Output: Burn type &amp; location</a:t>
            </a:r>
            <a:endParaRPr lang="en-US" sz="1050" dirty="0"/>
          </a:p>
        </p:txBody>
      </p:sp>
      <p:sp>
        <p:nvSpPr>
          <p:cNvPr id="51" name="Text 35"/>
          <p:cNvSpPr/>
          <p:nvPr/>
        </p:nvSpPr>
        <p:spPr>
          <a:xfrm>
            <a:off x="7496175" y="2333625"/>
            <a:ext cx="188595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i="1" spc="18" kern="0" dirty="0">
                <a:solidFill>
                  <a:srgbClr val="55555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Burn type + bounding box with confidence score</a:t>
            </a:r>
            <a:endParaRPr lang="en-US" sz="900" dirty="0"/>
          </a:p>
        </p:txBody>
      </p:sp>
      <p:sp>
        <p:nvSpPr>
          <p:cNvPr id="52" name="Text 36"/>
          <p:cNvSpPr/>
          <p:nvPr/>
        </p:nvSpPr>
        <p:spPr>
          <a:xfrm>
            <a:off x="5862638" y="1219200"/>
            <a:ext cx="1514475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spc="21" kern="0" dirty="0">
                <a:solidFill>
                  <a:srgbClr val="000000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Burn Classification</a:t>
            </a:r>
            <a:endParaRPr lang="en-US" sz="1050" dirty="0"/>
          </a:p>
        </p:txBody>
      </p:sp>
      <p:sp>
        <p:nvSpPr>
          <p:cNvPr id="53" name="Text 37"/>
          <p:cNvSpPr/>
          <p:nvPr/>
        </p:nvSpPr>
        <p:spPr>
          <a:xfrm>
            <a:off x="5676900" y="2333625"/>
            <a:ext cx="18859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i="1" spc="18" kern="0" dirty="0">
                <a:solidFill>
                  <a:srgbClr val="55555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Predicts burn severity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i="1" spc="18" kern="0" dirty="0">
                <a:solidFill>
                  <a:srgbClr val="55555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(Class 1, 2, 3, or NA)</a:t>
            </a:r>
            <a:endParaRPr lang="en-US" sz="900" dirty="0"/>
          </a:p>
        </p:txBody>
      </p:sp>
      <p:sp>
        <p:nvSpPr>
          <p:cNvPr id="54" name="Text 38"/>
          <p:cNvSpPr/>
          <p:nvPr/>
        </p:nvSpPr>
        <p:spPr>
          <a:xfrm>
            <a:off x="4043363" y="1219200"/>
            <a:ext cx="1514475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spc="21" kern="0" dirty="0">
                <a:solidFill>
                  <a:srgbClr val="000000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YOLOv5 Detection</a:t>
            </a:r>
            <a:endParaRPr lang="en-US" sz="1050" dirty="0"/>
          </a:p>
        </p:txBody>
      </p:sp>
      <p:sp>
        <p:nvSpPr>
          <p:cNvPr id="55" name="Text 39"/>
          <p:cNvSpPr/>
          <p:nvPr/>
        </p:nvSpPr>
        <p:spPr>
          <a:xfrm>
            <a:off x="3857625" y="2333625"/>
            <a:ext cx="188595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i="1" spc="18" kern="0" dirty="0">
                <a:solidFill>
                  <a:srgbClr val="55555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YOLOv5 identifies burn regions with bounding boxes</a:t>
            </a:r>
            <a:endParaRPr lang="en-US" sz="900" dirty="0"/>
          </a:p>
        </p:txBody>
      </p:sp>
      <p:sp>
        <p:nvSpPr>
          <p:cNvPr id="56" name="Text 40"/>
          <p:cNvSpPr/>
          <p:nvPr/>
        </p:nvSpPr>
        <p:spPr>
          <a:xfrm>
            <a:off x="2224088" y="1219200"/>
            <a:ext cx="1514475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spc="21" kern="0" dirty="0">
                <a:solidFill>
                  <a:srgbClr val="000000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Preprocessing</a:t>
            </a:r>
            <a:endParaRPr lang="en-US" sz="1050" dirty="0"/>
          </a:p>
        </p:txBody>
      </p:sp>
      <p:sp>
        <p:nvSpPr>
          <p:cNvPr id="57" name="Text 41"/>
          <p:cNvSpPr/>
          <p:nvPr/>
        </p:nvSpPr>
        <p:spPr>
          <a:xfrm>
            <a:off x="2038350" y="2333625"/>
            <a:ext cx="18859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i="1" spc="18" kern="0" dirty="0">
                <a:solidFill>
                  <a:srgbClr val="55555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Normalization, resizing, annotation mapping</a:t>
            </a:r>
            <a:endParaRPr lang="en-US" sz="900" dirty="0"/>
          </a:p>
        </p:txBody>
      </p:sp>
      <p:sp>
        <p:nvSpPr>
          <p:cNvPr id="58" name="Text 42"/>
          <p:cNvSpPr/>
          <p:nvPr/>
        </p:nvSpPr>
        <p:spPr>
          <a:xfrm>
            <a:off x="404813" y="1219200"/>
            <a:ext cx="1514475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spc="21" kern="0" dirty="0">
                <a:solidFill>
                  <a:srgbClr val="000000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</a:t>
            </a:r>
            <a:endParaRPr lang="en-US" sz="1050" dirty="0"/>
          </a:p>
          <a:p>
            <a:pPr algn="ctr" indent="0" marL="0">
              <a:lnSpc>
                <a:spcPts val="1575"/>
              </a:lnSpc>
              <a:buNone/>
            </a:pPr>
            <a:r>
              <a:rPr lang="en-US" sz="1050" b="1" spc="21" kern="0" dirty="0">
                <a:solidFill>
                  <a:srgbClr val="000000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Images</a:t>
            </a:r>
            <a:endParaRPr lang="en-US" sz="1050" dirty="0"/>
          </a:p>
        </p:txBody>
      </p:sp>
      <p:sp>
        <p:nvSpPr>
          <p:cNvPr id="59" name="Text 43"/>
          <p:cNvSpPr/>
          <p:nvPr/>
        </p:nvSpPr>
        <p:spPr>
          <a:xfrm>
            <a:off x="219075" y="2333625"/>
            <a:ext cx="188595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i="1" spc="18" kern="0" dirty="0">
                <a:solidFill>
                  <a:srgbClr val="555555">
                    <a:alpha val="99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High-resolution dermal images with varying lighting and skin tones</a:t>
            </a:r>
            <a:endParaRPr lang="en-US" sz="900" dirty="0"/>
          </a:p>
        </p:txBody>
      </p:sp>
      <p:sp>
        <p:nvSpPr>
          <p:cNvPr id="60" name="Text 44"/>
          <p:cNvSpPr/>
          <p:nvPr/>
        </p:nvSpPr>
        <p:spPr>
          <a:xfrm>
            <a:off x="76200" y="95250"/>
            <a:ext cx="9448800" cy="681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378"/>
              </a:lnSpc>
              <a:buNone/>
            </a:pPr>
            <a:r>
              <a:rPr lang="en-US" sz="3949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Pipeline &amp; Development</a:t>
            </a:r>
            <a:endParaRPr lang="en-US" sz="394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2025-05-12T05:20:10Z</dcterms:created>
  <dcterms:modified xsi:type="dcterms:W3CDTF">2025-05-12T05:20:10Z</dcterms:modified>
</cp:coreProperties>
</file>